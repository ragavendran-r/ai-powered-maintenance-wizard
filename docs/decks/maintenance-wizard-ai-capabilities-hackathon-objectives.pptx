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1fa4ae8e9c40f9" /><Relationship Type="http://schemas.openxmlformats.org/officeDocument/2006/relationships/extended-properties" Target="/docProps/app.xml" Id="R873b51a66a2b4741" /><Relationship Type="http://schemas.openxmlformats.org/officeDocument/2006/relationships/officeDocument" Target="/ppt/presentation.xml" Id="R75069f54862c43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5af196dcbf4367"/>
  </p:sldMasterIdLst>
  <p:notesMasterIdLst>
    <p:notesMasterId xmlns:r="http://schemas.openxmlformats.org/officeDocument/2006/relationships" r:id="R98783e528ffc4685"/>
  </p:notesMasterIdLst>
  <p:sldIdLst>
    <p:sldId xmlns:r="http://schemas.openxmlformats.org/officeDocument/2006/relationships" id="256" r:id="R6df3604da1674032"/>
    <p:sldId xmlns:r="http://schemas.openxmlformats.org/officeDocument/2006/relationships" id="257" r:id="Rf25999f45f80434d"/>
    <p:sldId xmlns:r="http://schemas.openxmlformats.org/officeDocument/2006/relationships" id="258" r:id="R6a532485bb094a88"/>
    <p:sldId xmlns:r="http://schemas.openxmlformats.org/officeDocument/2006/relationships" id="259" r:id="R0b61e878d6e14878"/>
    <p:sldId xmlns:r="http://schemas.openxmlformats.org/officeDocument/2006/relationships" id="260" r:id="Ra78da984f7b54a03"/>
    <p:sldId xmlns:r="http://schemas.openxmlformats.org/officeDocument/2006/relationships" id="261" r:id="R68ce4d04273c4d95"/>
    <p:sldId xmlns:r="http://schemas.openxmlformats.org/officeDocument/2006/relationships" id="262" r:id="R120b829d9c8940c8"/>
    <p:sldId xmlns:r="http://schemas.openxmlformats.org/officeDocument/2006/relationships" id="263" r:id="R1577a681aed24014"/>
    <p:sldId xmlns:r="http://schemas.openxmlformats.org/officeDocument/2006/relationships" id="264" r:id="Rcc32263012d34858"/>
    <p:sldId xmlns:r="http://schemas.openxmlformats.org/officeDocument/2006/relationships" id="265" r:id="R2b6bfe62453b461b"/>
    <p:sldId xmlns:r="http://schemas.openxmlformats.org/officeDocument/2006/relationships" id="266" r:id="Rb9af2f7a0bf34c38"/>
    <p:sldId xmlns:r="http://schemas.openxmlformats.org/officeDocument/2006/relationships" id="267" r:id="R30be59f7a0694a61"/>
    <p:sldId xmlns:r="http://schemas.openxmlformats.org/officeDocument/2006/relationships" id="268" r:id="R132e8c1fe12141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24485037a4824" /><Relationship Type="http://schemas.openxmlformats.org/officeDocument/2006/relationships/slideMaster" Target="/ppt/slideMasters/slideMaster1.xml" Id="R735af196dcbf4367" /><Relationship Type="http://schemas.openxmlformats.org/officeDocument/2006/relationships/notesMaster" Target="/ppt/notesMasters/notesMaster1.xml" Id="R98783e528ffc4685" /><Relationship Type="http://schemas.openxmlformats.org/officeDocument/2006/relationships/presProps" Target="/ppt/presProps.xml" Id="Rcaa8c8e6f4464895" /><Relationship Type="http://schemas.openxmlformats.org/officeDocument/2006/relationships/tableStyles" Target="/ppt/tableStyles.xml" Id="R78b90514a5264e22" /><Relationship Type="http://schemas.openxmlformats.org/officeDocument/2006/relationships/slide" Target="/ppt/slides/slide1.xml" Id="R6df3604da1674032" /><Relationship Type="http://schemas.openxmlformats.org/officeDocument/2006/relationships/slide" Target="/ppt/slides/slide2.xml" Id="Rf25999f45f80434d" /><Relationship Type="http://schemas.openxmlformats.org/officeDocument/2006/relationships/slide" Target="/ppt/slides/slide3.xml" Id="R6a532485bb094a88" /><Relationship Type="http://schemas.openxmlformats.org/officeDocument/2006/relationships/slide" Target="/ppt/slides/slide4.xml" Id="R0b61e878d6e14878" /><Relationship Type="http://schemas.openxmlformats.org/officeDocument/2006/relationships/slide" Target="/ppt/slides/slide5.xml" Id="Ra78da984f7b54a03" /><Relationship Type="http://schemas.openxmlformats.org/officeDocument/2006/relationships/slide" Target="/ppt/slides/slide6.xml" Id="R68ce4d04273c4d95" /><Relationship Type="http://schemas.openxmlformats.org/officeDocument/2006/relationships/slide" Target="/ppt/slides/slide7.xml" Id="R120b829d9c8940c8" /><Relationship Type="http://schemas.openxmlformats.org/officeDocument/2006/relationships/slide" Target="/ppt/slides/slide8.xml" Id="R1577a681aed24014" /><Relationship Type="http://schemas.openxmlformats.org/officeDocument/2006/relationships/slide" Target="/ppt/slides/slide9.xml" Id="Rcc32263012d34858" /><Relationship Type="http://schemas.openxmlformats.org/officeDocument/2006/relationships/slide" Target="/ppt/slides/slide10.xml" Id="R2b6bfe62453b461b" /><Relationship Type="http://schemas.openxmlformats.org/officeDocument/2006/relationships/slide" Target="/ppt/slides/slide11.xml" Id="Rb9af2f7a0bf34c38" /><Relationship Type="http://schemas.openxmlformats.org/officeDocument/2006/relationships/slide" Target="/ppt/slides/slide12.xml" Id="R30be59f7a0694a61" /><Relationship Type="http://schemas.openxmlformats.org/officeDocument/2006/relationships/slide" Target="/ppt/slides/slide13.xml" Id="R132e8c1fe121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fdefd9114646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551bb789834e46" /><Relationship Type="http://schemas.openxmlformats.org/officeDocument/2006/relationships/notesMaster" Target="/ppt/notesMasters/notesMaster1.xml" Id="Rdc454c3a7f17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33fb41677d4531" /><Relationship Type="http://schemas.openxmlformats.org/officeDocument/2006/relationships/notesMaster" Target="/ppt/notesMasters/notesMaster1.xml" Id="R8e74550e4b274b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4705b6ee974964" /><Relationship Type="http://schemas.openxmlformats.org/officeDocument/2006/relationships/notesMaster" Target="/ppt/notesMasters/notesMaster1.xml" Id="Rccf407d4e75649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68e1473e504d2d" /><Relationship Type="http://schemas.openxmlformats.org/officeDocument/2006/relationships/notesMaster" Target="/ppt/notesMasters/notesMaster1.xml" Id="Rd1ceff0782cc4cd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48107f1c4547cb" /><Relationship Type="http://schemas.openxmlformats.org/officeDocument/2006/relationships/notesMaster" Target="/ppt/notesMasters/notesMaster1.xml" Id="Rb89da18f67c9453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4edb4df8de4a83" /><Relationship Type="http://schemas.openxmlformats.org/officeDocument/2006/relationships/notesMaster" Target="/ppt/notesMasters/notesMaster1.xml" Id="R25f36628075f47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71f52b83a08440e" /><Relationship Type="http://schemas.openxmlformats.org/officeDocument/2006/relationships/notesMaster" Target="/ppt/notesMasters/notesMaster1.xml" Id="Rf243f5421f3f4f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35846185cf499e" /><Relationship Type="http://schemas.openxmlformats.org/officeDocument/2006/relationships/notesMaster" Target="/ppt/notesMasters/notesMaster1.xml" Id="R7870d8bd3eab4e1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a918f0ea4a47e4" /><Relationship Type="http://schemas.openxmlformats.org/officeDocument/2006/relationships/notesMaster" Target="/ppt/notesMasters/notesMaster1.xml" Id="Rb41587bf338f440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478ef1b98442fc" /><Relationship Type="http://schemas.openxmlformats.org/officeDocument/2006/relationships/notesMaster" Target="/ppt/notesMasters/notesMaster1.xml" Id="R3b6f8eb0b55041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4e73c6d90d4d76" /><Relationship Type="http://schemas.openxmlformats.org/officeDocument/2006/relationships/notesMaster" Target="/ppt/notesMasters/notesMaster1.xml" Id="Rd00f870f210746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3ffdc426324964" /><Relationship Type="http://schemas.openxmlformats.org/officeDocument/2006/relationships/notesMaster" Target="/ppt/notesMasters/notesMaster1.xml" Id="Rd4cd700e4eea44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2c75f08cf894c8a" /><Relationship Type="http://schemas.openxmlformats.org/officeDocument/2006/relationships/notesMaster" Target="/ppt/notesMasters/notesMaster1.xml" Id="Ra57e93a7d1c340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9be8e43afc4d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ba661e3aa1433d" /><Relationship Type="http://schemas.openxmlformats.org/officeDocument/2006/relationships/slideLayout" Target="/ppt/slideLayouts/slideLayout1.xml" Id="R7aab90059acd47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b90059acd47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774f0a5c411a" /><Relationship Type="http://schemas.openxmlformats.org/officeDocument/2006/relationships/notesSlide" Target="/ppt/notesSlides/notesSlide1.xml" Id="R10f8a08335ca4f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aa3da1dd4405a" /><Relationship Type="http://schemas.openxmlformats.org/officeDocument/2006/relationships/image" Target="/ppt/media/image.png" Id="R31119b298e214fda" /><Relationship Type="http://schemas.openxmlformats.org/officeDocument/2006/relationships/image" Target="/ppt/media/image.svg" Id="Ra0f1e14848e14be8" /><Relationship Type="http://schemas.openxmlformats.org/officeDocument/2006/relationships/image" Target="/ppt/media/image2.png" Id="R943966c51e6f42db" /><Relationship Type="http://schemas.openxmlformats.org/officeDocument/2006/relationships/image" Target="/ppt/media/image2.svg" Id="R0d9894829107406f" /><Relationship Type="http://schemas.openxmlformats.org/officeDocument/2006/relationships/image" Target="/ppt/media/image3.png" Id="R1f8f16f7c7d04d90" /><Relationship Type="http://schemas.openxmlformats.org/officeDocument/2006/relationships/image" Target="/ppt/media/image3.svg" Id="Refd8c37a9d604b24" /><Relationship Type="http://schemas.openxmlformats.org/officeDocument/2006/relationships/notesSlide" Target="/ppt/notesSlides/notesSlide2.xml" Id="Rbd5ef6d0492e443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b386653cc4235" /><Relationship Type="http://schemas.openxmlformats.org/officeDocument/2006/relationships/notesSlide" Target="/ppt/notesSlides/notesSlide3.xml" Id="R2fac7095367643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0c1b85e264e15" /><Relationship Type="http://schemas.openxmlformats.org/officeDocument/2006/relationships/notesSlide" Target="/ppt/notesSlides/notesSlide4.xml" Id="R65e08f60a5cb45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787b0fee8474e" /><Relationship Type="http://schemas.openxmlformats.org/officeDocument/2006/relationships/notesSlide" Target="/ppt/notesSlides/notesSlide5.xml" Id="Rfb898b3fc76c42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393ccede8e4125" /><Relationship Type="http://schemas.openxmlformats.org/officeDocument/2006/relationships/notesSlide" Target="/ppt/notesSlides/notesSlide6.xml" Id="R0a2a2334f73147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bcfe5705124895" /><Relationship Type="http://schemas.openxmlformats.org/officeDocument/2006/relationships/notesSlide" Target="/ppt/notesSlides/notesSlide7.xml" Id="Ra0b22ce98dbf4f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02751ea3e43f8" /><Relationship Type="http://schemas.openxmlformats.org/officeDocument/2006/relationships/notesSlide" Target="/ppt/notesSlides/notesSlide8.xml" Id="R3a7865d8399c4c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1791dc547482c" /><Relationship Type="http://schemas.openxmlformats.org/officeDocument/2006/relationships/notesSlide" Target="/ppt/notesSlides/notesSlide9.xml" Id="Rec800d0d56d4414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b98846ce854a7f" /><Relationship Type="http://schemas.openxmlformats.org/officeDocument/2006/relationships/notesSlide" Target="/ppt/notesSlides/notesSlide10.xml" Id="Reb21575bb0c843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44e8008be8402c" /><Relationship Type="http://schemas.openxmlformats.org/officeDocument/2006/relationships/notesSlide" Target="/ppt/notesSlides/notesSlide11.xml" Id="R0047eb4b16784f4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bf0dc485ea4031" /><Relationship Type="http://schemas.openxmlformats.org/officeDocument/2006/relationships/notesSlide" Target="/ppt/notesSlides/notesSlide12.xml" Id="R689eead4addf41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7ce72429d4f56" /><Relationship Type="http://schemas.openxmlformats.org/officeDocument/2006/relationships/image" Target="/ppt/media/image4.png" Id="Rb93ed529f60741d7" /><Relationship Type="http://schemas.openxmlformats.org/officeDocument/2006/relationships/image" Target="/ppt/media/image5.png" Id="Rd852489dcff3440f" /><Relationship Type="http://schemas.openxmlformats.org/officeDocument/2006/relationships/notesSlide" Target="/ppt/notesSlides/notesSlide13.xml" Id="R38ee88646b844d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90E8B7-2ACB-4CD3-A6DB-F0FB8AC2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3EDFD-4D29-4E1B-85EC-86D96E80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1B2BC5-9C09-424E-B1FE-4BE42580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BBFF61-DE28-4AD7-9435-E603FAB8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89FE6-24E0-47EB-BD7D-0A21673C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830A3-5910-4733-A778-D5B84E02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5740E-F8C3-4B8B-A914-5EF27A73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2ED4E4-E4A1-4E9B-BD19-0E6F6DC7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82A6C5-AEDA-4850-974C-6B6E3567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FB55B-9F06-408F-92EF-2B824DF9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996FA-B711-4D8A-8819-D355FC2C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5517B-588B-4900-A79C-EEFD61B4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4DB32F-A64F-4936-8E11-C03709C9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F3C21C-D1E9-469C-9AAE-514DEF0D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489D8E-0B30-432E-BC7B-BE13578E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588EC-9DF1-4469-9152-371916D8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1-marker">
            <a:extLst xmlns:a="http://schemas.openxmlformats.org/drawingml/2006/main">
              <a:ext uri="{FF2B5EF4-FFF2-40B4-BE49-F238E27FC236}">
                <a16:creationId xmlns:a16="http://schemas.microsoft.com/office/drawing/2014/main" id="{E2AB0AD8-863A-4C9A-86F9-A9CB4D72C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-label">
            <a:extLst xmlns:a="http://schemas.openxmlformats.org/drawingml/2006/main">
              <a:ext uri="{FF2B5EF4-FFF2-40B4-BE49-F238E27FC236}">
                <a16:creationId xmlns:a16="http://schemas.microsoft.com/office/drawing/2014/main" id="{046B20BD-9ADF-40B9-ABC2-1FB55DF3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AI CAPABILITY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CB3E8F-E2B4-42AE-B883-0D7464F4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Maintenance Wizard turns plant evidence into governed AI action.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AFD17-3678-4663-B94A-164B8775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7524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Neo, Morpheus, and Smith sit on top of deterministic maintenance services: ingestion, retrieval, risk, prediction, work orders, learning review, and reports.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20A6A1-881C-4788-AD0C-6B47D2A4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841895-325D-47E9-A295-74F8B26BC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SENSE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DA4066-E2B5-41D3-8973-B6C4B0AB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alerts, sensors, anomalies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AA2B6-A996-4D77-A6A5-C5BA890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559771-E7EB-419B-B184-FDC5424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48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RETRIEVE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7FFFBA-FBA6-4AEB-A7E4-9B4ABC14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771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Qdrant evidence and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9C1A4-A4FE-4376-A7C1-8ADE045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9BBEB6-5CAE-4D1D-9D08-3D9136CE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48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REASON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1A255C-2231-49D0-AE8E-381E0DB62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71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RCA, PM, prediction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C7EE00-12B4-427A-90D1-CC99FD49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26A2E2-C3F3-4952-8174-A507E481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48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ACT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90AFF-99E0-4F2E-984C-9DC9ECD6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71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work orders, plans, reports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C6421AD-1770-4844-85A9-F7FF6F7C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19450"/>
            <a:ext cx="1200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4FA980-22F5-40EC-B9EC-4D1484C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480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1425" b="1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LEARN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133091-11A5-4596-A7DB-D70594F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771900"/>
            <a:ext cx="1295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judge, approve, tune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25FCDF-E546-4CA9-A76C-81C65897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8763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9525">
            <a:solidFill>
              <a:srgbClr val="234A4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3B0C9C-3F6D-4D97-AAFD-52674B8C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0287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2342A4-2B99-4565-975C-422236DA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4478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assistant personas: Neo, Morpheus, Smith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3FDBC4-5823-480B-A5F9-E34173F9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717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9525">
            <a:solidFill>
              <a:srgbClr val="234A4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C80259-40E8-4E58-9C26-931D42E4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241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58C4DD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58C4DD"/>
                </a:solidFill>
                <a:latin typeface="Aptos Mono"/>
                <a:ea typeface="Aptos Mono"/>
                <a:cs typeface="Aptos Mono"/>
              </a:rPr>
              <a:t>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A257945-CB81-4E6A-A7B8-BC5842A5E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432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sample steel-plant assets in the demo set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21B0B2-AD99-4B68-8244-98418C40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4671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9525">
            <a:solidFill>
              <a:srgbClr val="234A4E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5F27D93-C465-492A-A434-AA54D237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151A189-4EC3-45E3-B825-96D48596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ingestion modes: file, JSON, IoT stream, feedback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5158CC-E6C2-474E-A9C1-51C8595B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762500"/>
            <a:ext cx="2095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526"/>
          </a:solidFill>
          <a:ln xmlns:a="http://schemas.openxmlformats.org/drawingml/2006/main" w="9525">
            <a:solidFill>
              <a:srgbClr val="234A4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795E47-B5DC-4DE7-8717-86D76CAA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14900"/>
            <a:ext cx="17526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22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RAG+PEFT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3CD6FD-8C63-4503-BE19-F56B014D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334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immediate grounding plus controlled specialization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259C53D-03AC-431C-8242-EF129C3E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C01E6AD-7E0F-408F-A163-253EEB1E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README AI Capabilities, Current Capabilities, architecture data flow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369D09-310B-4025-B4D7-49C8038E4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1607958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02CEB-8CA0-411C-87FE-A49F4AC2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6AADF1-470B-4946-89CD-1503E99C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89B25-2995-4C93-9A2D-1F354982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4E62D-A16D-477A-B78D-E958032B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00F2B-6A07-4121-AF7A-D9081DCB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1C388-CC67-412E-B3E3-A49DFD9E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F2A99-C3BF-45FF-99D0-C9096222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A75EC5-5B8F-4C1E-9814-CD0DC000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C4141-A360-40F5-92CF-D215B78C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DEB44-D1EF-45A6-91BF-F34ECD0D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BA6FF-0DDD-4217-BE33-4CE3A1251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81E431-DAA6-4FDF-9405-58C8652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437295-EFCE-4E17-AD7E-EAB1F717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33495E-27D1-4BEB-A63F-9F821EDC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F5A434-5BCD-4E6B-BF56-0F7FF49E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A200EA-93BF-4951-A718-93F7B482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AE5850BD-B6C9-4D09-B65D-93D9A36D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7C43E6CC-027F-4099-9708-2E6EBFEA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ASSISTANT OPERATING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6CC2FD-BEDD-46BF-ABCC-16BF0F6F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7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three AI personas split the maintenance workload instead of acting like one generic chatbot.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65D99E-CACB-47D8-AFAA-8A8DFBDF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Each assistant is grounded by the same app context, role checks, provider adapter, retrieval layer, and deterministic fallback path.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40101-25A6-47DC-A80E-801F0515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19b298e214fda">
            <a:extLst>
              <a:ext uri="{96DAC541-7B7A-43D3-8B79-37D633B846F1}">
                <asvg:svgBlip xmlns:asvg="http://schemas.microsoft.com/office/drawing/2016/SVG/main" r:embed="Ra0f1e14848e14b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5350" y="2971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7066B4-03E7-446B-8C28-A0184443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952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9181D-BEE6-4201-AF1D-E8B9462C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Operational copilot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968A69-B9D4-48A0-82F2-E0A51AF8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Dashboard answers, role-aware welcomes, asset and work-order lookup, permission-checked commands, technician and supervisor modes.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4B855-608F-4AB4-B188-9F58ACDC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721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Visible in dashboard, Work Execution, and role-specific assistance.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B6A84-1457-4D0F-B3FC-3F957C9B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966c51e6f42db">
            <a:extLst>
              <a:ext uri="{96DAC541-7B7A-43D3-8B79-37D633B846F1}">
                <asvg:svgBlip xmlns:asvg="http://schemas.microsoft.com/office/drawing/2016/SVG/main" r:embed="R0d9894829107406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10100" y="2971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92CE69-07CF-4692-9B98-CF02DD3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952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Morpheus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7C29E-4ED5-4FB8-BF70-7AC7425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528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Diagnosis and planning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77A063-EF74-414E-B3BA-7D62E631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672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RCA, probable root causes, immediate actions, planned actions, PM plan drafting, Fishbone structure, RAG evidence and confidence context.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8AE1D3-918E-4293-83E2-429E7A32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3721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Visible in diagnose, RCA Workspace, and PM planning flows.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20770E-FD7E-4064-A0BE-C272673E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f16f7c7d04d90">
            <a:extLst>
              <a:ext uri="{96DAC541-7B7A-43D3-8B79-37D633B846F1}">
                <asvg:svgBlip xmlns:asvg="http://schemas.microsoft.com/office/drawing/2016/SVG/main" r:embed="Refd8c37a9d604b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24850" y="29718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56B7DF0-720A-4B6C-85EB-B36F019D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2400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Smith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2CF5AA-08E9-4916-95C5-40A78AB1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52800"/>
            <a:ext cx="2800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Reliability execution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C51EEE-1924-4F8F-8407-83A1EEFF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267200"/>
            <a:ext cx="27813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Failure probability explanation, RUL drivers, degradation narrative, cautions, recommended next steps, technician-ready PM steps.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3BB31FD-05D5-4E49-A2AB-44FF2CF78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72100"/>
            <a:ext cx="2781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Visible in Reliability tab and PM task conversion.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AE76CF-38CD-4312-8CD6-83AB6465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07C03D-A805-4726-976F-0D40FD1C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rPr>
              <a:t>Sources: README assistant roles, architecture work-order assistant service, demo script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3476AA-F379-40F5-9B33-A3AF298D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410079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1C2D3E-EE4C-4187-A1C7-048AEE235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CDAF3-9230-4E40-AC87-109933B7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6DE7A3-E832-4779-A365-48689380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12AAA-551B-4D97-AE02-6A52AF50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C728F-F096-4981-9C34-97A09F04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3F9AC-37A7-4C33-96A6-28A8C68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5F8CC-B1CF-4045-BCC9-4CE0839D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E53174-D399-4592-A705-929F3C8C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E1E8FA-30B3-492F-A339-BC97BC798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8F0B51-D063-4C30-818E-FB1D2620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198E6B-0FEA-4E0D-8629-A8B32DA3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EB8F16-82CE-4344-8952-6C7F2ED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5D0E0A-FD37-4995-B81A-A7D72491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4E14D5-31EA-4A95-9CE9-E4A68F095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62CCC1-E830-4322-BB6D-097C80867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D773C9-AA93-4938-831F-01F99B6B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CF261C45-3786-4B89-822E-AF4E0BE3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B51CFDEB-1478-40AA-997C-DB902A1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AI WORKFLOW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A04DD0-2C89-45E7-8119-A98046D7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3820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adds judgment around deterministic plant controls, not instead of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663D35-692C-4595-AB3D-4C22C74F5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95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B9906-47CD-4295-987E-13D7CDAC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9525" cy="9525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84A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0CC8F6-95BA-4778-9C8F-3718FDB4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02C525-357D-42C6-93D1-B56F188C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Plant state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39CFB0-76B9-45D2-B87F-A9A3CADB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alerts, readings, spares, work history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ADF14E-7F54-469D-8D80-8319FB6F2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6957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74F08-6F17-4645-9A8C-BD178AE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57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B1D57D-4266-4E5E-A261-9918605C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7180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84A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DBAB90-8149-4136-BB7D-31C0987C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43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71BB2-3531-449C-8971-B91C0D703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48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67CC5E-8C3E-4461-9AF4-854CA179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05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manuals, SOPs, logs, approved learning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16078-5E35-4BBA-8941-5D901907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957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2B2E69-03B2-4AFD-AF15-ED6A5810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7ED8F7-997F-4CE1-A200-6FA06554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7180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84A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E21FB-77B3-43CA-81FF-DC1578B70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43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80709-C40F-4B95-AF7A-3F95C281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48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reasoning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1CAB8B-1C42-4942-A0B5-609F3E38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05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root causes, actions, PM/RCA, explanations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7EFF93-F95B-4A4B-80AD-3D969848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957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D71D48-4B22-40C7-91F0-A3CC1317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8E9C72-AC00-4F40-A50A-8A6A17C3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84A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DAFD8-783D-4F74-849E-C5254FD2A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43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0EFECD-D6E2-48F0-B4D4-6B182BDF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48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1C1C94-C4B3-4CAB-9E5F-AC0EB31E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05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work orders, plans, reports, feedback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04E16A-E2FC-4FB9-BD27-123C2315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69570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CEE230-86B5-4A67-A2B6-CED56FCA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57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EA8273-F70B-4559-AAAA-952434A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1714500" cy="158115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84A4D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E5FFD3-E33D-4A1A-81F6-F67933CC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514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3DF08D-FB24-4E98-833A-A7B71A5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48050"/>
            <a:ext cx="133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3704E11-F5E3-4CF2-8360-8493CC98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judge scores, approval, JSONL, model versions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2B914B-5FF8-4A05-9E17-444B737A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72050"/>
            <a:ext cx="914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A1A"/>
          </a:solidFill>
          <a:ln xmlns:a="http://schemas.openxmlformats.org/drawingml/2006/main" w="9525">
            <a:solidFill>
              <a:srgbClr val="2F4C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74B77B-1F44-43B4-B028-CB9374D3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435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CONTROL RAIL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C288137-473D-4284-8C7A-2D9A76D4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086350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JWT role guards | Pydantic schemas | structured JSON validation | deterministic fallback | reviewer approval | audit records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32E7E4-B379-49AD-955B-8887F383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DA825F-AC3E-4544-94DB-6D08653A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docs/architecture.md LLM Boundaries and Data Flow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738EDEC-D2DE-4B36-8A13-CCC89DA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963341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DD3143-4BB3-4615-8047-243F3276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3E77AB-6203-4648-A2A6-ACF59023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61A822-E9B3-4D87-87F1-615338C37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52B97B-A4CE-4412-BE4E-CD824EA7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15A73-1124-414E-8206-2B33F22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3537AA-EAFF-446C-9C19-1E7C3F1C0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A948F-36ED-48B4-A635-2D0FA8DC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7EBE0-6ADA-4A03-9428-16D42D5A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E322B1-36FD-4C64-ABFE-DC424059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125B1-E903-4CFB-B027-A4DDE440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3CA55-11FF-47F0-A658-E6B8EF13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32C7C-5877-46FF-BD12-2EFE566B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00FDB3-4E71-4D35-BF31-F443CA68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7FA03-BFF0-47E8-A989-3F2980B2C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80617B-B11A-4FA1-8AF9-D02ED80F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71F731-75E9-4CC5-B123-984C9B3B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45C62E7D-8171-44BA-A682-6F698B06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6ADE1531-8787-49E4-BCA0-1F1D65D9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RAG + PEFT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7059B-E7FC-414D-BC56-003CCDF5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RAG improves answers immediately; PEFT turns approved learning into controlled model specialization.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F3F181-0AED-4129-9C0E-AB1144A0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7715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The same learning sources can feed prompt-time retrieval today and LoRA/QLoRA adapter candidates later, but only after judge scoring and human approval.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5FEC9F-26C3-49C9-B557-E3D9563F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2476500" cy="22098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ABBAF-871B-4F49-81FD-0B89270C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861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SOURCE KNOWLEDGE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5DBA88-0985-4A1E-8486-6CE0AB2D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67100"/>
            <a:ext cx="20193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- SOPs and manuals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- Logs and history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- Engineer feedback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- Work-order outcomes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- Approved assistant interactions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10DA5F-A11C-44DF-B50F-4244AC5F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24150"/>
            <a:ext cx="276225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04C3B4-58A3-456F-ADC6-70C51A3B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527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6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QDRANT RAG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32F9B0-D693-4CF4-8EBD-67B221FF1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147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5DD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5DDD9"/>
                </a:solidFill>
                <a:latin typeface="Aptos"/>
                <a:ea typeface="Aptos"/>
                <a:cs typeface="Aptos"/>
              </a:rPr>
              <a:t>Document chunks and approved learning examples retrieved into prompts with asset context.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5DCA49-E873-4C5B-B5EF-727B615B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762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733AAE-01D3-4CA1-AA12-C4F8429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05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LEARNING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FFA73-10B6-4CD3-AD73-236EA210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48200"/>
            <a:ext cx="219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LLM-as-a-Judge score, reviewer approval, dataset snapshots, evaluations, deployment verification.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851C24-0A54-45AD-8EF4-5590B7F7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724150"/>
            <a:ext cx="3429000" cy="116205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6141B9-BF6F-4F66-9594-99700F5F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52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ASSISTANTS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8F3CD3-0ED6-4F5B-B9F0-DE21A9D9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147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5DDD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5DDD9"/>
                </a:solidFill>
                <a:latin typeface="Aptos"/>
                <a:ea typeface="Aptos"/>
                <a:cs typeface="Aptos"/>
              </a:rPr>
              <a:t>Neo, Morpheus, Smith, recommendations, reranking, labeling, document intelligence.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E5FB95-5B66-4A35-94F5-DACD63A7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67200"/>
            <a:ext cx="342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345B4C8-7B8A-4D6A-8EFA-F6C2C68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95800"/>
            <a:ext cx="2762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PEFT ADAPTER CANDIDATE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5D53971-FC94-420D-96DE-FB8838C26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724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Approved JSONL -&gt; LoRA/QLoRA trainer -&gt; candidate model -&gt; evaluation -&gt; promotion or rollback.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9C29D0-E10F-41AE-805E-49EB5BB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2766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7F6D35-D2E6-4626-8868-97327C498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BAA056-6DE7-412F-B998-F1A98CBA2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625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C1F461-A1D9-4270-9C9A-87B3895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724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CC4616-02EF-4677-AE5C-68B45FBD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65A9F51-335C-408F-BBE9-16E22D07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385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FD0A37A-DD48-468B-892A-9547D3C0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2440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E791B2-0657-44B0-83CE-D54039A2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86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5FB5F3-F549-4A57-8453-9C951AFC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C7CCD1-E607-4E32-9206-9425259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rPr>
              <a:t>Sources: docs/rag-peft-nats-learning-architecture.md, docs/peft-training.md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4D6B779-3EC9-489B-BFE0-4DA8EB97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53983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9011BC-EF2B-4773-8AE8-75A44D1E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19512B-7324-4CD7-8536-259404B0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8A7A5-2BCB-4AF2-B432-EC18CDAD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2D17C-2865-47E6-BF70-9674BAFF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3C9099-E01F-4032-8A4F-EDF15E63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52C2D-7DFF-42CD-9E03-4144CFB0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4BA2F4-0BD7-4F21-AD46-A6C66170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73E76F-2CFF-4F78-80E0-60CFBA8A5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53D0D-53AC-4964-B1E9-656327CDD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9811E-28A3-440D-BF58-E652026B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C8E21-2079-4F97-AB77-F00C7EADB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330B62-92A3-4E1C-A1BE-809B3196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A197C-D241-4A88-A1E2-B390D71E0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05A83-8FE1-4C60-ADF9-49F5A1134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257DA9-823A-4F93-A8AA-AC04CC30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0EC17-0DFD-4F93-9FDF-3802AFF0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E9E5281F-69D1-4111-BB95-8586D4CC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CE9830E6-2E55-416F-BDC3-125D6297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INGESTION FABRIC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E09A75-3519-4E69-A984-32AFC7C3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Ingestion covers static knowledge, operational records, live IoT events, and learning signals.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87FF7-450B-40B2-8900-B1E7180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8096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Every path lands in typed storage and retrieval indexes so future diagnosis, prediction, planning, and reporting can reuse the evidence.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ABDF29-2BC4-4F75-A802-0B57D3A0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2ED62-3142-4881-BDE8-F71CD92F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FILES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501BE-3560-4920-95E1-4F5BCA4D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7146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.txt .md .csv .log .json .pdf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CC6E2-F705-4A03-B80E-00A1B158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6702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F42583-6F9B-4780-9B80-F46FA8D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28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AB112F-80E5-4F90-A178-50DBB99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C840DD-5142-4299-B9A3-E7DAD7B5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8C4DD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58C4DD"/>
                </a:solidFill>
                <a:latin typeface="Aptos Mono"/>
                <a:ea typeface="Aptos Mono"/>
                <a:cs typeface="Aptos Mono"/>
              </a:rPr>
              <a:t>JSON RECORDS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2AEEE3-2E32-4CBB-B334-A19F4BE7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3432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equipment, alerts, spares, sensors, history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7804C8-4E6D-4EFD-81A4-E775950A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956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B0033D-7E16-4D65-A7BD-09B4B613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4575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13748B-9325-417E-B003-BBA4326D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862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F2F94B-0C2C-4DFD-8039-0E8D8D86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NATS IOT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968EDC-24EE-4090-80CE-DD46EDB4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9719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JetStream durable consumer, ACK, DLQ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26103-C6E5-4CDB-AE5A-0A5B0219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12432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1A340E-5CAF-49C8-94F7-814B1A26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86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9F6465-D9D7-41E1-8C0B-81D51B861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1018BA-AFA5-44CA-AB1C-4306C55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2D9223-2D35-4CB2-AE98-B82E3A9E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60057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root cause, action, outcome, notes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C7EBED-B3C8-4EE2-AD78-9973C77C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75297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F3AA3C-11D9-4C0A-89A6-9B2619E1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14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3887034-6724-4C69-90F0-A8EBA1A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2857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1C031C9-6EE7-4D1E-826D-8A0882D5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050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LEARNING JOBS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88D814-5795-484C-9E8D-F921DC2F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229225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judge, dataset, evaluation, PEFT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044C93-B1DE-4A84-B43F-50649D48F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381625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DECA88-BC61-4DDB-BBE9-A44B38F1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435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4A1813-D6AF-4B4F-9CA6-BA1C3B63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2381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A555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4050E9-EEFD-4F53-B08A-694C49B3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NORMALIZE + INDEX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99B716-5177-4094-BBD8-8B9F0D0C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520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5DDD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DDD9"/>
                </a:solidFill>
                <a:latin typeface="Aptos"/>
                <a:ea typeface="Aptos"/>
                <a:cs typeface="Aptos"/>
              </a:rPr>
              <a:t>Parser, document intelligence, schema validation, chunking, embedding metadata, repository writes.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C17B4D-D6C0-4411-9698-B22650D6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1485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SQLite local store + Qdrant vector collection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D7BE02-EBB4-4F87-8A9A-AC833F3AB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705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76DA32-3FAB-4CD7-A4F4-F2B4FA06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003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Recommendations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C7F6A9-B10C-4C46-A1AE-83FE3505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289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root causes, actions, evidence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8AAE3C3-8859-4B51-9434-38F7F2C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81325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409332-036F-4EAD-A22A-DA8F7217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43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0E2E778-DF09-4869-A65B-B39324E6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290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7A301BF-8799-4823-B16D-4D2A1C35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242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7BD57F-3535-4389-B73E-2E02892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528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risk, RUL, drivers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AF23E5E-F973-403B-AABD-9CB0D348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05225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8FEB78-D302-43D3-947D-090299F0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671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463AD99-E814-42EA-8B92-DFEEFA6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529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890CDAD-6E55-4F6C-9C4C-41972E2E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PM/RCA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76F8C2F-62D3-4C0E-818E-20077CC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76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plans, tasks, Fishbone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B71E65A-8051-4335-BEA9-D0BFBF6BD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29125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AF9206C-1933-4148-95B1-8FC5E30E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91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1628A5-3BEF-4B52-944B-83501403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876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27B818-B3E0-472A-B21D-F2BDD8F59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CB34AE7-5205-461E-8BE2-C9BF1EF4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006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insights, alerts, logs, Markdown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E682197-1691-48F5-BB2B-E850FED7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53025"/>
            <a:ext cx="933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F56D8BD-5BC5-4102-B2CE-73582A3E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149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B9DFC1-A840-4397-8F64-5D2E7AF6D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8F39AE2-C87B-4E75-ADA4-6E571055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README ingestion modes, docs/architecture.md API Surface and Data Flow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969666-5DB8-4F7A-BE3B-CAE739FE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766924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39F31D-CC2D-4B51-B64C-A084A9C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EA583-AF11-4635-9E8D-C45F6AE1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433C7-0125-42BC-AEA6-4F28B83B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6A867-5220-41A0-94AA-FA9EB363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99EB4-85A4-4147-8D5A-8DD0594C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EF4FB-88A4-4036-9257-C697F7A6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A69C8-EE30-4022-9925-F9856CA76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72B65-5958-4ABD-B7C4-DA9E4337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C6A5AA-FA46-4B4F-A650-352109B7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BB31AA-6C30-4554-813D-26D2A6E2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9691FA-BAEC-482D-BDC3-B1ABF592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F06DD-2CBD-43A0-ACCB-5E3FCDC8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2B2AD-810B-4C7A-9926-DA103BFA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D41DEE-1185-43BC-AA53-A26D5767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2E8CA9-E564-45A6-B270-39EA458A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CD66FE-C7CF-4E3B-B22C-FE2D8B80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E43B0032-7D83-4854-9A0B-357E1575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9DCA80AD-9DCA-49D2-8E29-4258058F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DF5CD5-8CF5-45A9-A6D7-35FEDED9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95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Reports package AI recommendations into maintenance handoff artifacts.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48665A-F4EF-4BE6-B819-75410B1F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001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The reporting layer exports structured maintenance intelligence and Markdown summaries that carry risk, RUL, actions, evidence, and learning notes.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27E3B0-9111-4C45-9D4E-8BE7C321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409575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A1519-2E5A-4281-BE20-B84BA003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146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MAINTENANCE INSIGHT BUNDLE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8AAE41-9937-4846-BD68-0677E0B2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BEF877-D8D5-480C-8B89-35FB81F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909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Structured maintenance 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91B519-6C1D-4789-927A-91B62195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0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F754C1-3CEC-43CC-B6D1-34655FC5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528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Abnormal alert reports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058AB-3F89-4177-B2BB-B4DF5FBA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973C0E-E335-467F-A96C-FE9DE8AC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Maintenance decision summaries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3D0EB6-8891-4A48-A875-7BE0E980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339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B5727B-235F-401A-BC20-3B5FB4D5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7675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Digital maintenance log entries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71724D-E141-4AE8-A0E7-C4561617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95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C62BA9-0F4E-4400-9E4F-772A03D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38700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Markdown export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C0D834-0F9E-4ABB-B6C7-68EC73C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590800"/>
            <a:ext cx="47625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960FF1-45DB-4E35-AB82-A669561E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765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WHAT THE REPORT CARRIES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FDF1E3-4A7D-4EE7-9D51-A2D489F0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risk and health 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A6B8C3-66BD-435A-BDA4-511CD94A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C88CBE-94CA-4A17-8F2F-D688ACD5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276606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D3FC2F-3F96-4997-B7A0-1334D2D4F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05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failure probability and RUL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605103-5616-442D-8DAE-C4CDEB6F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A24BD9-6E54-41EC-ACD2-E3E10DA2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33850"/>
            <a:ext cx="238887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288441-9A41-4315-90F3-ACF62EDE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767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root causes and actions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445BEB7-FA01-4CE8-A19A-F783A619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EE8D7B-A708-4915-8D80-7B44003A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05350"/>
            <a:ext cx="289179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9A0129-BB93-424F-8453-5A94464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0482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evidence and learning notes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E211012-A56B-4555-939A-CA4E6DD8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3143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5C28870-EB06-49BE-9BA7-10CDE5DC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276850"/>
            <a:ext cx="213741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107875-6739-4EBE-BC04-ED4A4754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8001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Markdown export keeps the demo portable while typed endpoints expose each report family to the UI.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F1EA28-498C-4F84-AFCF-DACB9EE1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92D808-0307-4FDC-9A1C-0CC7DE4E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rPr>
              <a:t>Sources: backend/app/services/reports.py, README Decision-Support Features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B936F1-5CE9-40DE-8E6B-5B014A08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66814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D33CAE-4143-4C0C-9DC0-DE453D6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C5E62-283A-48AF-A8D8-1C0FC613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0DE57-146F-418C-BE55-42615385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A978FC-1AFB-4D81-A238-4965BBAB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3DB056-2C50-467D-A6BA-97F1D20A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7EF578-8684-4265-95B0-0F8BF90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27193-F99A-4BC3-9236-E25E4BC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C525C-03C3-431A-A797-1194C28A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B7CC9A-F922-4D95-8D0C-B996DA89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7E955-8E7E-44B5-A2EC-0D923511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23CDB-A955-4D67-B9D3-F76468E8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63ADC-CA1F-40E4-AFE7-8078152C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951DC-2E15-4F3B-A110-46EA1A9E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85A560-EB3D-46E6-B38E-44EF033F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73806C-D2B9-43F1-B511-24C3716E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D4B9E7-B24B-4586-8B33-22BAA4B3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513C11DD-0D68-4C60-99C8-CFFD8288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4A3F8FE6-86D8-42F7-A287-955A438DE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GOVERNED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BDAAAA-99D1-442E-AB77-C5E1E972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57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AI capability is paired with a control that limits operational risk.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7A4A89-CC87-42D3-8CE9-6D8E7DDF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809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The system is intentionally not online self-training. It is auditable RAG reuse and PEFT-ready preparation with human approval, evaluations, and rollback.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48C11-E2E6-4B2B-99F3-66F9A2F1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CAPABILITY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827DC0-9673-42EA-BAA2-52CB8D47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05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CONTROL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26B95-A9BD-4680-B669-14A5CD068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051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58C4DD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58C4DD"/>
                </a:solidFill>
                <a:latin typeface="Aptos Mono"/>
                <a:ea typeface="Aptos Mono"/>
                <a:cs typeface="Aptos Mono"/>
              </a:rPr>
              <a:t>EVIDENCE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03C610-3737-41CC-AD7D-DA75F008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051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RESULT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F1002D-3ABC-44D9-B2CA-06D7BA67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A9C67-B74F-400E-96D1-9DD4E7C0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LLM output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49E41-D0E4-4BB8-85C0-3E127D18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718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Pydantic schema validation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73254-BD93-4E91-81C9-53F2291C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structured JSON contracts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87BB97-85B3-4296-93AF-F2B47090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71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fallback if invalid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8B9187-369D-4354-8F0B-BB01E716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93F3DA-1952-40F7-9482-E647C858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671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RAG reuse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6CF7D2-D34E-48A9-BDC5-E5FF1800A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6671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judge score + approval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087630-C9C7-4F61-B826-DD35BECD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671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Qdrant payload filters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E1BC241-D4A9-4AD2-8CE3-B4B1E0AF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671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grounded prompts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E17B3B-1B54-4021-A570-FA704231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60B87D-7315-4D6B-ADC4-544363AF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624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PEFT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9913C2-B509-4F05-B81E-2DC8D54D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1624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dataset, eval, deploy gates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FFBD9-202C-49B0-91F0-C7ECB96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624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artifact hashes and versions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B908501-13D5-4FA3-8FA3-35E004C9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624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candidate only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1D162C-F674-4438-B345-75C559AA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090D34-1F5E-444F-A504-FA18874F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577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E1BF75-0314-4E57-B114-855B33F9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6577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role guards and backend rules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133B9E-CC04-484E-9480-4C6B86EA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JWT current user context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EE5096-1E32-4A8B-855F-055A6BCA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577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no model-owned writes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F1C8E2-D411-452A-9875-FC7F04A5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70DD4B-A197-4980-ADA7-5601117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86913C-70FA-4E8D-8551-FCC397E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530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timeouts and final events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0D79ECA-E5DF-4917-8AF0-10F6BC84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53025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provider labels and logs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2504349-4FCB-4F16-8910-941591C9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530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readable live UI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C897AF-AAB7-4409-AD41-140484F5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53100"/>
            <a:ext cx="89535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01A1A"/>
          </a:solidFill>
          <a:ln xmlns:a="http://schemas.openxmlformats.org/drawingml/2006/main" w="9525">
            <a:solidFill>
              <a:srgbClr val="2F4C4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AEEF145-79A7-4E85-87C3-1B26862C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48350"/>
            <a:ext cx="853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9E2DD"/>
                </a:solidFill>
                <a:latin typeface="Aptos Mono"/>
                <a:ea typeface="Aptos Mono"/>
                <a:cs typeface="Aptos Mono"/>
              </a:defRPr>
            </a:pPr>
            <a:r>
              <a:rPr sz="1050" b="0">
                <a:solidFill>
                  <a:srgbClr val="D9E2DD"/>
                </a:solidFill>
                <a:latin typeface="Aptos Mono"/>
                <a:ea typeface="Aptos Mono"/>
                <a:cs typeface="Aptos Mono"/>
              </a:rPr>
              <a:t>Authoritative services: auth, ingestion, risk/RUL, persistence, work-order state, approval, evaluation, promotion, rollback.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439381E-AC48-4CD9-88F3-F624D536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64CADB0-13AB-4E97-B6E0-1905257A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docs/architecture.md LLM Boundaries, Continuous Improvement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14243B-D57F-42F9-B872-32552232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586762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325A63-C491-4263-97A9-9F294079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78C88B-04EA-4363-97E7-21EFDD546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C60F8-65B1-4AD1-AF41-66CFD083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F9D22-C872-4272-9B27-2A65C0BE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143C0-DD84-41E7-A5C3-5F8510C27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781E5-5A18-4061-89EF-B52E4A34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F8512-1EB6-477C-927A-0A6B030B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9FAF1-9D8B-484D-9E49-081DD28E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59744E-19FC-4996-A417-6B643008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3C06-7C97-4D29-9A37-9ECE302F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963F2-32CB-426D-8AA2-0390FA35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9B03D-B1C0-4B8F-BAC9-10A27A07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0968A3-E9D8-4A50-A972-3AF09858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57D67-99FF-4A46-A4F3-A26256B9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94BFE9-0F5F-46CF-949C-E84A93A2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D8258E-8EB3-4BC5-9B4C-2D3986E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FC8A26F3-C533-4DFE-908E-5B2B42D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C2E97E68-A37E-427F-ADAB-FEAD35E9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DEMO PATH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28B5F9-3646-44AF-B68A-FFE59F98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477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demo proves the architecture through visible workflows, not just architecture diagrams.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C609E-A08E-4EEA-AE93-122096E62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27A816-AF22-46D8-B58A-9C08F8F2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623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74B5B-0B6B-4E4F-BA56-80A21C97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43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1EE8D-9735-4B8C-AA49-8CB47B9E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rPr>
              <a:t>plant health and role-aware Neo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877829-867E-4A51-9D07-3144F57E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575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256F80-F25C-4670-9375-1D195F2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19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76686-D02A-4623-A806-9553981F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0990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97F7D8-FEE5-435E-8EA7-2FEE2DCA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623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2C1027-C5FC-4455-848E-65D49AA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Asset detail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16FB9-D97E-4F52-AAB8-B2208AEA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05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rPr>
              <a:t>alerts, anomalies,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D62CE2-4FFA-4998-B150-2168FB6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1BBC63-578F-4FD0-9470-3E19E84A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19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4E4412-0F97-4D01-B3F7-96F68B87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00990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769C3B-DC5E-4370-B507-43548ADF9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0C5784-4520-4FA2-9002-43841D49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43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Diagnose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3371129-276B-4823-97DA-5350121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05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rPr>
              <a:t>Morpheus root causes and actions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FECDDA-49C9-45C1-9335-AE89039D8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575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33633-82AF-4ECC-AF72-996FFD0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194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EC11B9-9CD2-467E-AAE1-B3288128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00990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7296F4-3172-47BF-9B2E-2A13D3AC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6230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F83510-BE1D-41D7-95A4-7C559866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432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428B07-ABBC-4A5B-AFBA-D7EEE269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5052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465553"/>
                </a:solidFill>
                <a:latin typeface="Aptos Mono"/>
                <a:ea typeface="Aptos Mono"/>
                <a:cs typeface="Aptos Mono"/>
              </a:rPr>
              <a:t>Smith prediction narrative and RUL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2E4DE4-A4C4-4409-9530-5EF1546C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8F86B4-9136-42C6-A0A1-A152B1F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7948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06DE10-A8D5-4E01-B749-92F4C633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1965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5F166A-E8CF-435E-B31B-53220A1C8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6C7B1C0-DA5B-4929-9846-E314B8DD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53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Ingestion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5D234C-80C1-41BB-89B7-97B527865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files, records, streaming status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C4AF53-3671-458E-B914-D36AF5A6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673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D9E860-8961-4C25-AD54-263ABA44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29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81A78E-EB26-47A3-833A-9F14CA784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1965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163FB54-3ABD-40AB-9E12-AB37A6CF3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720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92342F7-EC79-4766-98AF-982A32E0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953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E2B6DB-9A7B-4E80-A93C-1967A05C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149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RAG status, examples, datasets, PEFT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E951A4-F428-4695-ADF0-549C97C7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673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3509006-9047-42E9-AC72-D37158D9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29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9EC6AC0-E5D5-4153-AEC0-B4648CEE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19650"/>
            <a:ext cx="2076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2F776D-ED75-40C5-A9C5-A58B0E60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972050"/>
            <a:ext cx="342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A4388D-FD6B-42F1-881D-A292D085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530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7898BF-93E3-4C24-A42E-1258C5D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1495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C8D2CC"/>
                </a:solidFill>
                <a:latin typeface="Aptos Mono"/>
                <a:ea typeface="Aptos Mono"/>
                <a:cs typeface="Aptos Mono"/>
              </a:rPr>
              <a:t>refresh, review, export Markdown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5CD610-C2D4-49F7-8646-0F8367A8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93154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80EA62D-D149-4562-A242-445F4737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87439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Narrative: show the AI assistants first, then reveal the RAG, PEFT, ingestion, and report machinery that makes them credible and repeatable.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56B82C-EF0E-4580-9F37-2C75E350F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0A993D-3FBC-4F21-AFB8-2539000A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rPr>
              <a:t>Sources: docs/demo_script.md, README Project Layout and Current Capabilities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A0F125-EF37-421F-8AA3-31A02550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84420078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0DD615-AC15-4D7E-8A42-A04CFA5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0E50D1-382D-47E4-B48C-36A6B365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747843-2ECD-45F3-B644-C080628E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9200C3-04AD-447B-BB42-14C5A81D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81F5C-9071-4EE8-8450-D781F56F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F35C0F-C331-4A79-940C-800AAC05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90E14-6793-46AB-A9A9-C0EA0E8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37EF-9AEA-40FE-9D0B-0213F390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93F72-8E20-4BA5-9DFD-98E08492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58C8D-6600-4926-8ADD-5D1ED0EF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F9A9C-7072-484D-9BE8-8221ADE6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FD921-9714-4941-B17B-66E587DF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34F52F-A04A-4A17-A25C-DC99515E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E19DA-75B5-4DBD-8A36-B40AC5A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987244-CDCA-4A68-BBC3-07B86B8A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89D1B7-20D4-40EA-BAB2-4FDA1540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9-marker">
            <a:extLst xmlns:a="http://schemas.openxmlformats.org/drawingml/2006/main">
              <a:ext uri="{FF2B5EF4-FFF2-40B4-BE49-F238E27FC236}">
                <a16:creationId xmlns:a16="http://schemas.microsoft.com/office/drawing/2014/main" id="{9DFDB960-0EC5-4220-A591-092F838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9-label">
            <a:extLst xmlns:a="http://schemas.openxmlformats.org/drawingml/2006/main">
              <a:ext uri="{FF2B5EF4-FFF2-40B4-BE49-F238E27FC236}">
                <a16:creationId xmlns:a16="http://schemas.microsoft.com/office/drawing/2014/main" id="{CADD2B3B-F02F-4A42-AC5A-FCA0A105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SYSTEM 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81CBBD-DC26-48C9-ACB8-B39E1C59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architecture separates user workflows, deterministic services, AI enrichment, and learning stores.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893DF2-ED51-4C0C-A25F-566D1293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React and FastAPI expose the workflow. Retrieval, risk, prediction, and learning services enrich decisions while SQLite, Qdrant, and NATS keep state and async flow explicit.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6EA11C-E1B2-4C3F-955F-BB57199D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B8850-9CEC-4A98-9088-3F4E0458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8C4D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8C4DD"/>
                </a:solidFill>
                <a:latin typeface="Aptos Mono"/>
                <a:ea typeface="Aptos Mono"/>
                <a:cs typeface="Aptos Mono"/>
              </a:rPr>
              <a:t>PLANT USERS +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6C7F77-1D19-4490-9D83-5F6EDAB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Admin, engineers, planners, operators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React dashboard, assets, ingestion,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75B6ED-39E5-4BE1-BF2E-73D79C00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0955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2B906B-F563-48DD-A16A-3D927928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956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FASTAPI + AUTH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7281B4-8129-487D-9F86-2AF4D2AC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81350"/>
            <a:ext cx="1790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Typed HTTP API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JWT current user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Role guards and validation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7D15CE-0087-4C73-A1A1-39309104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81300"/>
            <a:ext cx="2381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BC3AC8-F570-4206-A6AE-3033E947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95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MAINTENANCE APIS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CC3394-DC12-4C61-BCEA-27A7D8A6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2076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Dashboard, assets, diagnosis, prediction, work orders, PM/RCA, reports, users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C536D8-2662-4CB6-A999-6EA3C2F0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81300"/>
            <a:ext cx="18859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0604F-F57A-4E11-8B7E-F5E0BFE8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95600"/>
            <a:ext cx="1581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AI ADAPTER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7D9974-5659-49CE-892A-40B168C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81350"/>
            <a:ext cx="1581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Mock, OpenAI-compatible, Ollama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Structured JSON + fallback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2EA94-032A-4878-B428-FC8CE92D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956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8431A1-B896-4CCB-A7D8-A83A8955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D7ECA3-71EF-4799-AA1C-3191C12D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935860-45A7-4294-B967-15A30870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0DC153-F6FC-4F5F-A488-6CF9CAAD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95650"/>
            <a:ext cx="781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2FD0A23-0EEC-4B05-B07B-1317DB61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575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5514D5-6578-47F1-BB1F-BF2E4A1AC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171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8DCB468-027C-4B8C-9DF8-679A7EDC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8C4DD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58C4DD"/>
                </a:solidFill>
                <a:latin typeface="Aptos Mono"/>
                <a:ea typeface="Aptos Mono"/>
                <a:cs typeface="Aptos Mono"/>
              </a:rPr>
              <a:t>INGESTION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1F543FC-20E1-4436-BC9B-2E1A4FFE2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1409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Files, JSON records, NATS IoT stream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EFC769-265B-4D52-9452-BE7EB86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57700"/>
            <a:ext cx="200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D04205-234B-4C66-A31B-55A32D7D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72000"/>
            <a:ext cx="1695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RETRIEVAL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49D874-CD56-40F0-A4ED-427235EC4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Parser, document intelligence, Qdrant RAG, reranking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199B6C-465C-44B4-9F58-14ADBC28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57700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A5BB4F-1B0E-40A2-AEF6-78D417DD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72000"/>
            <a:ext cx="1790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RISK + PREDICTION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B34DDD-1C6E-4EBA-B662-7CB97B9A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57750"/>
            <a:ext cx="1790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Anomalies, criticality, spares, labels, RUL drivers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442DDDD-F830-488A-91EA-E1A425C7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57700"/>
            <a:ext cx="1905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F6A65B-E8C5-42FE-9ED1-1883A5B8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72000"/>
            <a:ext cx="1600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LEARNING LOOP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9B05FF-1AC5-4C9B-A248-3C41DC55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57750"/>
            <a:ext cx="1600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Feedback, judge, approved JSONL, PEFT workers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3CFCD5-C4C4-4D82-A857-420C23BF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4457700"/>
            <a:ext cx="11811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3AE851-002D-4712-AEFE-5D61E94B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5720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STORES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D5F71BB-5AA7-4DD0-BF12-00FFAAAAF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57750"/>
            <a:ext cx="8763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SQLite operational store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Qdrant vectors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NATS JetStream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4C630B-FF35-4536-8666-A62408D80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8863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A867AB2-4CCD-4356-9DBB-434E151A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48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DDED5C5-37CD-43CA-AC36-ACC00764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8863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093ED7D-5F33-45E8-8B5F-306E6E76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48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E120F1E-5F30-4475-8583-B8060310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863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442379-E766-4B8F-AB0C-1D88C60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48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2C0BE4B-FA20-45A4-8F2E-8EFB4FA9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886325"/>
            <a:ext cx="476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B53449F-D2FC-44B0-9555-7C7CD004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48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9990198-1CDA-4ED2-A8B8-D9A049F9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EACEBF-7B35-4E43-AAB0-BE8BB99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docs/architecture.md System Diagram, Components, API Surface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2B7580-1E22-47CC-8765-753D14CE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46284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113DC4-28FD-495C-9FFC-5909652D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BD54E-3AB4-41D8-8B7F-63A886C6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7CC988-96CE-4D35-AD18-280B8002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9596E-E61F-4C6E-9347-55D2038A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D7714F-FD2B-435A-8A1C-FF61E85A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ABF91-129D-484B-B3F2-9AB367F6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CD273E-875F-45B9-A4BD-781EF0A2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CDAFE2-91CF-4256-AC7E-235354C4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422EAF-D411-4B57-9C68-FAF9D004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C52AF-4855-4620-9FF1-B0CE738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579CF-12E4-49E3-B100-5337E096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11032-FF00-4C67-913D-1CF4DCF7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DFBDBE-DAF8-48FA-B817-63040FC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25B730-F265-4522-8D49-9871F3FD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A01E47-7FF7-48F4-BC3A-D0A54AB57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7B2553-9E02-4509-828A-2957067E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BB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0528DC0D-D7CB-4C80-A35F-D84EED50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9103A6BE-D607-4EA9-8034-C4298622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3E5C59"/>
                </a:solidFill>
                <a:latin typeface="Aptos Mono"/>
                <a:ea typeface="Aptos Mono"/>
                <a:cs typeface="Aptos Mono"/>
              </a:rPr>
              <a:t>FULL TECH STACK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11D17F-7372-425C-88E4-5FD7AEB7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prototype runs on a production-aligned local stack, from UI and APIs to RAG, streaming, and PEFT hooks.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CD4840-5C1F-4BC0-8214-C91B8692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6555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65553"/>
                </a:solidFill>
                <a:latin typeface="Aptos"/>
                <a:ea typeface="Aptos"/>
                <a:cs typeface="Aptos"/>
              </a:rPr>
              <a:t>The stack is intentionally provider-agnostic: deterministic local demo paths stay available while OpenAI-compatible, Ollama, Qdrant, NATS, and PEFT integrations can be enabled.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A764E-41C7-4A5A-B62E-09D516EE4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32004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59A2CE-4137-4C28-8116-1B11029D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BACKEND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9E2FEC-B770-4D66-AC6E-303B05A5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Python 3, FastAPI, Pydantic, Uvicorn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1B3B6-9946-4979-8A60-EE0438362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337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DC1ADB-1D69-442C-AF29-17B5FDCA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575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PERSISTENCE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12AAA0-BB37-46B3-981E-0081BA046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43852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SQLite local store, startup migrations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1FB72-C355-4832-B60A-8B3F0B34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5762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48368B-766C-42AE-B999-6B1AFB1D1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FRONTEND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0B8E0D-C2D3-4545-ACDF-128D30D0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6240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React, TypeScript, Vite, CSS modules, lucide-react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54E24E-73A1-4FC5-80EC-C270295B2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05A469F-5CA4-4386-AA9D-841020E3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053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AUTH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F428F8-6E89-4831-920C-D101B371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8627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bcrypt hashes, JWT bearer tokens, role guards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87CF28-9D4E-416C-8C9B-C6CF7A24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906BDE-B83A-4F79-96DE-F22F8F0E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33D17A"/>
                </a:solidFill>
                <a:latin typeface="Aptos Mono"/>
                <a:ea typeface="Aptos Mono"/>
                <a:cs typeface="Aptos Mono"/>
              </a:rPr>
              <a:t>REPORTS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90F313-3A2D-47C4-8986-27385379B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010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Typed insight reports, Markdown export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C770BE-BF05-4EAC-8E98-0B9DF3F4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24150"/>
            <a:ext cx="32004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054CDDF-6EE2-4302-B568-A317E846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337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AI PROVIDERS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BE1E9-0A2F-4442-B3D4-FBE42615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Mock, OpenAI-compatible chat, Ollama chat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8E4239-5ADC-4876-845C-3C8C494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C5FCCF-0DA5-4A56-8EDE-0B15F7B2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575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LOCAL LLM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6252B2-5D9A-427F-B08F-25B951F6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43852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LM Studio + Qwen2.5 7B Instruct GGUF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A26D03C-8C35-45EC-828F-39176FDD6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5762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744A92-CA28-480D-8A28-3970FBED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ASSISTANTS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81034FD-D330-4436-ADF7-E1FB02BC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96240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Neo, Morpheus, Smith role-aware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566E95-2BE4-4368-8707-3F8E32BD8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C6E817-E50A-4EC0-8C7E-ABF34FB9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053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RAG/VECTOR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0A7B13-BA81-40FD-8593-566A945A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8627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Qdrant, deterministic embeddings, SQLite fallback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E7E245-9851-4F30-9AB6-32B482B3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0537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4967255-EBED-4D6A-B3BF-B9A3E169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029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PARSING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69B8F3-46BF-419D-B547-15E299EF4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010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Text/Markdown/CSV/log/JSON, pypdf PDFs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B753B9A-2509-43C2-ADE8-FA9DCA22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24150"/>
            <a:ext cx="3200400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BF7EE"/>
          </a:solidFill>
          <a:ln xmlns:a="http://schemas.openxmlformats.org/drawingml/2006/main" w="9525">
            <a:solidFill>
              <a:srgbClr val="D2C7B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7F4FB51-5150-4A99-AE1E-F058E1CB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STREAMING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15796A-12D3-4D1C-A31E-D34690BDB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NATS JetStream, durable consumers, ACK, DLQ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59C6D5-B340-4EEF-B85C-7D7CCDF9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2ED0CD-102B-40B4-9295-F54E5414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5757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LEARNING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B7521A-CAD9-4C8D-97D3-70FBCF39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43852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LLM-as-a-Judge, approvals, JSONL snapshots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8A5DEF-0E1D-4BC5-8D93-D6475110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2C28428-DAAE-44C6-8016-F0CD0657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PEFT TRAINER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8F329F1-8571-4F42-843D-E19D6247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96240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Transformers, PEFT, TRL, bitsandbytes, Accelerate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2F1283-1FC9-4521-A590-9DB8C9D37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381500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83FC70-58F9-4701-BD06-5F4A22BE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05325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TESTS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07C9736-58A1-4AEE-BE14-F61A3DE5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86275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Pytest, Vitest, Testing Library, Playwright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CE14D1-ECFB-45C7-8D2E-C7AE58E1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905375"/>
            <a:ext cx="2781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C7B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934A2D-1EE9-41E9-AFAD-B577B7D5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292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EF6F6C"/>
                </a:solidFill>
                <a:latin typeface="Aptos Mono"/>
                <a:ea typeface="Aptos Mono"/>
                <a:cs typeface="Aptos Mono"/>
              </a:rPr>
              <a:t>ORCHESTRATION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5543643-EFC1-4032-9122-1407E870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101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34413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34413E"/>
                </a:solidFill>
                <a:latin typeface="Aptos"/>
                <a:ea typeface="Aptos"/>
                <a:cs typeface="Aptos"/>
              </a:rPr>
              <a:t>Bash scripts, Docker NATS/Qdrant, Kind runner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D74F9C-9290-4316-B0D3-0A7E9741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BFA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63908DC-A9A8-43CB-A085-B62B7C24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68736D"/>
                </a:solidFill>
                <a:latin typeface="Aptos Mono"/>
                <a:ea typeface="Aptos Mono"/>
                <a:cs typeface="Aptos Mono"/>
              </a:rPr>
              <a:t>Source: README.md Tech Stack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809E894-7CFE-4B54-BDC8-6DDD4A35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111827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171775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51BE3B-5FC3-41A0-80D2-B4C9B426F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597FA-6466-4CE2-8FDE-5EBB0F427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542A2-F0B6-4252-8C3C-13B2516F0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4EA62-5B54-4635-94D1-91D1641A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DC5D05-574A-463D-B24A-E297D972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AF7B4F-AD2F-48C8-BC00-6CC0DF63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1C129-611B-4EE9-81C1-6432B5E9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8ADA5-A200-4212-BC63-1FAAFC23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D6D6BB-4B91-45F2-A8FB-4D2497CD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E5AD5-BC51-41BF-8B31-57FD11A4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81832-E949-433B-9BF0-0D1FCF42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67A6EB-4EAF-4432-AE15-EA715B12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DE097-AD8A-441C-81FE-742D0D07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FBB55-802B-4258-9E89-678CBB5B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9D416-6D0D-44C3-AFF9-C83AE542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735FFA-6EFB-4686-A159-A92CC03D3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9A3BF5AD-23D4-4A86-995E-6412C69D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B539B968-5CAB-40C4-A6AB-4EB8AF32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FEATURE COVERAGE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112421-307C-4BEE-B920-23D869A9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858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Beyond the AI layer, the app covers the maintenance lifecycle end to end.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F7F63D-5C51-4E46-878B-081F004E6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The AI assistants are connected to implemented product surfaces: assets, diagnosis, reliability, planning, work execution, learning review, user administration, and exports.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ECC516-0D9F-408E-816E-94F6603D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D5DD76-68BD-4F94-8979-13CDE6972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2DAC3E-92AF-4881-B02F-D59F8CFA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57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Asset intelligence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A7D962-E0AB-41E4-B287-0015A310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194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Plant dashboard, company asset table, lazy-loaded asset detail, health and risk views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82DD65-CC3B-4BA4-B7EB-A431F688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2415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F594C-351C-4BD4-B15F-66714745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A54629-1E1B-45F5-BCD6-E685803C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F86B8E-7B56-4BBE-BB69-9A5B78E7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2194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Chat, diagnose, retrieved evidence, root causes, actions, spares strategy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810480-91A9-4736-9E5A-078A5352E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E4423C-1EEE-458D-95DF-B9E8E0DE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A17097-0DEE-412A-9231-562B3B74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5750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Reliability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CF9EEA-D9EC-49A0-B5DD-6FE1455D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Anomaly detection, failure probability, RUL, confidence intervals, degradation trend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69E49-D747-44B5-B693-B4038216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FA4EAE-97A3-4B4C-988E-F1643769B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F288BD-0FFD-4656-B49B-0C2DC283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76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Work management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E18200-1B68-4C56-89E0-F6BDDB4A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Work-order queue, lifecycle, planning, dispatch, material blockers, technician logs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BDF26D-8429-49E0-BF2B-6A793B4B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434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82B889-1381-4719-AAEB-D51A7F19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1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84AAD18-C9D4-4FF6-B7B2-65BBBC1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476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PM + RCA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954C2D-BB54-489F-B0E1-9955A4E56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8387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Morpheus PM/RCA drafts, Fishbone capture, Smith technician-ready PM steps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DCB1C2-CB02-4C09-9824-E45D8BE2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43400"/>
            <a:ext cx="30861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6A83ED-7303-4B55-86A0-E7760880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33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3FB66F-9CEE-4EE6-BCA7-CFF1915DC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476750"/>
            <a:ext cx="2286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+ admin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E2630C-7856-4BC0-93F6-68C18261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3870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Feedback, labels, Learning Review, datasets, model versions, RBAC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D320B55-AC4C-4271-BEC7-3B294715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10250"/>
            <a:ext cx="906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Demo proof: five steel-plant assets, role-specific screens, streaming-enabled local stack, typed APIs, and Markdown report export.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D5995A2-2C6E-49FF-B172-971CD8A2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EBC9B6-ABE9-47E3-BB36-6713F559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38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README.md Current Capabilities and Decision-Support Features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30D13E-7BC9-4F81-BF55-81B30E8DC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490369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B194C3-53B8-42BD-91B4-E56D5EC8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4050AE-79D6-44BA-BD07-C891B8AF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C27D-49B5-4EC1-83DC-DA31E1496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23BD5-5535-4C2D-811F-2FAABD7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1C1BB-1761-4502-BA1F-BBB4036D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C660B0-E6CD-4591-AAFB-72E073D0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E1BD7-647F-411F-8720-0E348F0C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1558-86E5-4EC8-A251-9C12597B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63A31F-D273-4144-875A-C83697D9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D1077-D9C4-4B7D-B8F2-DDBC00DA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44BB-2C01-40E3-A094-47C32DDE1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81050"/>
            <a:ext cx="952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E9275B-0C6B-41ED-8F86-C8CB8743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0A286-649A-496F-926B-5ADAA672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A34605-0448-4CCF-9553-63CC8764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C6492-71A2-42CB-AA0C-B9E5C652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027B1A-DF84-4F78-A43B-AD5FE1C4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0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1A8F2D16-F9BE-4487-9F68-291E8047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5D4CE6A1-D3C1-424B-B418-0ED4AC0DC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9575"/>
            <a:ext cx="400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HACKATHON OBJECTIVES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FD132-B117-404D-B497-93FCFD8E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048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application addresses each hackathon objective with implemented maintenance workflows.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2CEDCB-7B9A-4629-BEBD-0811A2A21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847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AI improves judgment and explanation, while deterministic services keep scoring, ingestion, role access, persistence, and work-order transitions controlled.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3D2E30-B30B-4260-92B3-E207EE9B4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381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OBJECTIVE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35A7F6-F58F-48F7-AB81-FFE13F4D5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57450"/>
            <a:ext cx="36385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APP MECHANISMS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A67A7D-73B0-443C-89EC-F3F46D13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57450"/>
            <a:ext cx="3238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6B54A"/>
                </a:solidFill>
                <a:latin typeface="Aptos Mono"/>
                <a:ea typeface="Aptos Mono"/>
                <a:cs typeface="Aptos Mono"/>
              </a:rPr>
              <a:t>PROOF / OUTPUT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ED23B-1FA5-4E04-A716-0CEAA5AE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7A977D-BD68-46D8-8D2A-063D918F5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81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5B17EF-0F79-417D-AC12-8FC26587A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Faster and more accurate diagnosis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BD42F-87D7-4E0B-AACD-C007206B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670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Chat + Diagnose APIs, Qdrant evidence retrieval, structured LLM validation, deterministic fallback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CE3575-C449-46DC-97F4-CE529545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670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Recommendation panel returns diagnosis, confidence, actions, spares,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B46A49-E14E-430D-9ED3-E6B3AFC4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55159C-81B3-4EAF-AFD3-57281B13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554421-8452-4E3D-88D8-E138F05C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04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Probable root causes of failures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2912C78-1758-430C-A6A3-BA80B0C7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004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Morpheus RCA, retrieved SOP/manual/history evidence, prior feedback, Fishbone capture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D17DC-5CDC-4766-973A-ABFBC1D9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04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Root-cause list, RCA workspace, learning notes, cited evidence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AB326F-2D12-465E-9746-B41594D4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282ABC-35A1-4FBE-A517-5601A8C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481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C4D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6D5BA8-96EB-4EA5-983A-5451439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338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Degradation and remaining useful life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3DB8B5-EC24-4D6F-8C37-3D55AC7F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338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Prediction API, risk service, anomaly findings, labels, confidence intervals, degradation trend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BB4DEC-C4DC-41F4-8BBC-D8C036C1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338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Smith reliability narrative, failure probability, RUL drivers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50F6C6-7B87-4870-953C-DA7C221A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F38290-55F8-4414-AF66-41BCB117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6F6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31B98C-4A75-4A20-9FD4-2A22DFA3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672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Proactive abnormality and catastrophic 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6EC39B-88B5-4149-90B4-9BB743CD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672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Rolling baseline, z-score, thresholds, trend delta, severity and criticality scoring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5CE812-6216-44BA-A992-7E13CF19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672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Anomaly findings, health risk notes, critical/high alerts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1D4C720-6B4D-4E9E-8CA4-475C121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E2325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260E0E-017F-4AAE-81EA-8F90AF1B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14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5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2C7E7B-31E5-4176-9174-462B5210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006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Prioritized maintenance actions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3F9768E-42D9-4AA2-B4E5-931E1CE9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006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Risk level, active alerts, equipment criticality, spares availability, lead time, material readiness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246302F-0DEC-4EC9-B6FE-28899BE6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006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Immediate/planned actions, work-order planning, procurement blockers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7F754C-8AB9-4AC2-8047-41C951DB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8204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02426"/>
          </a:solidFill>
          <a:ln xmlns:a="http://schemas.openxmlformats.org/drawingml/2006/main" w="9525">
            <a:solidFill>
              <a:srgbClr val="24484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36A4AC-2C25-4A88-AC2E-FAD48872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48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D17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0B1996-8549-4381-97B6-4BE4999A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34025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Structured insights and reports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B514D5-10E8-4F84-9122-7FD500FE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534025"/>
            <a:ext cx="3638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C8D2CC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C8D2CC"/>
                </a:solidFill>
                <a:latin typeface="Aptos"/>
                <a:ea typeface="Aptos"/>
                <a:cs typeface="Aptos"/>
              </a:rPr>
              <a:t>Typed report service, maintenance insight bundles, abnormal alert reports, decision summaries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5CBCCCF-0A62-40EC-BCA5-4B9B5FF7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34025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D9E2D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D9E2DD"/>
                </a:solidFill>
                <a:latin typeface="Aptos"/>
                <a:ea typeface="Aptos"/>
                <a:cs typeface="Aptos"/>
              </a:rPr>
              <a:t>Markdown export with diagnosis, risk, RUL, actions, evidence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B666783-EF5C-4926-967A-4D8B4674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6057900"/>
            <a:ext cx="90678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01A1A"/>
          </a:solidFill>
          <a:ln xmlns:a="http://schemas.openxmlformats.org/drawingml/2006/main" w="9525">
            <a:solidFill>
              <a:srgbClr val="2F4C4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B64581-F8F1-401C-A205-C3734D15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34100"/>
            <a:ext cx="857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Traceability: each theme objective maps to a visible screen, typed API, persisted record, or report artifact.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064B5A1-FB88-4009-87CC-5A9CF4A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40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9F4064B-88BD-4682-9D35-D94732D0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91A29C"/>
                </a:solidFill>
                <a:latin typeface="Aptos Mono"/>
                <a:ea typeface="Aptos Mono"/>
                <a:cs typeface="Aptos Mono"/>
              </a:rPr>
              <a:t>Sources: README Decision-Support Features, docs/architecture.md Data Flow and LLM Boundaries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A1C57E3-10CB-46F7-A8B9-8A627686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E8E1D4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705713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B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rchitecture-slide-background-grid">
            <a:extLst xmlns:a="http://schemas.openxmlformats.org/drawingml/2006/main">
              <a:ext uri="{FF2B5EF4-FFF2-40B4-BE49-F238E27FC236}">
                <a16:creationId xmlns:a16="http://schemas.microsoft.com/office/drawing/2014/main" id="{99188D25-1D54-49AC-8D7F-D2B2CB010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architecture-slide-shell">
            <a:extLst xmlns:a="http://schemas.openxmlformats.org/drawingml/2006/main">
              <a:ext uri="{FF2B5EF4-FFF2-40B4-BE49-F238E27FC236}">
                <a16:creationId xmlns:a16="http://schemas.microsoft.com/office/drawing/2014/main" id="{6AB5FE48-DE31-4F64-8F03-E70B2641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"/>
            <a:ext cx="11391900" cy="62484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E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" name="architecture-slide-eyebrow">
            <a:extLst xmlns:a="http://schemas.openxmlformats.org/drawingml/2006/main">
              <a:ext uri="{FF2B5EF4-FFF2-40B4-BE49-F238E27FC236}">
                <a16:creationId xmlns:a16="http://schemas.microsoft.com/office/drawing/2014/main" id="{7EDFF309-30D1-4F86-959F-7D2963AC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F766E"/>
                </a:solidFill>
              </a:defRPr>
            </a:pPr>
            <a:r>
              <a:rPr sz="900" b="1">
                <a:solidFill>
                  <a:srgbClr val="0F766E"/>
                </a:solidFill>
              </a:rPr>
              <a:t>SYSTEM ARCHITECTURE</a:t>
            </a:r>
          </a:p>
        </p:txBody>
      </p:sp>
      <p:sp>
        <p:nvSpPr>
          <p:cNvPr id="4" name="architecture-slide-title">
            <a:extLst xmlns:a="http://schemas.openxmlformats.org/drawingml/2006/main">
              <a:ext uri="{FF2B5EF4-FFF2-40B4-BE49-F238E27FC236}">
                <a16:creationId xmlns:a16="http://schemas.microsoft.com/office/drawing/2014/main" id="{A4DFACBB-F0E9-4459-AEC1-E50C85C8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609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Maintenance Wizard application architecture</a:t>
            </a:r>
          </a:p>
        </p:txBody>
      </p:sp>
      <p:sp>
        <p:nvSpPr>
          <p:cNvPr id="5" name="architecture-slide-subtitle">
            <a:extLst xmlns:a="http://schemas.openxmlformats.org/drawingml/2006/main">
              <a:ext uri="{FF2B5EF4-FFF2-40B4-BE49-F238E27FC236}">
                <a16:creationId xmlns:a16="http://schemas.microsoft.com/office/drawing/2014/main" id="{46E34F82-DC0F-4637-A24A-2162F165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23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13">
                <a:solidFill>
                  <a:srgbClr val="475569"/>
                </a:solidFill>
              </a:defRPr>
            </a:pPr>
            <a:r>
              <a:rPr sz="1013">
                <a:solidFill>
                  <a:srgbClr val="475569"/>
                </a:solidFill>
              </a:rPr>
              <a:t>Role-aware UI, deterministic maintenance services, evidence-grounded AI, async workers, RAG storage, and reviewer-controlled learning.</a:t>
            </a:r>
          </a:p>
        </p:txBody>
      </p:sp>
      <p:sp>
        <p:nvSpPr>
          <p:cNvPr id="6" name="architecture-diagram-frame">
            <a:extLst xmlns:a="http://schemas.openxmlformats.org/drawingml/2006/main">
              <a:ext uri="{FF2B5EF4-FFF2-40B4-BE49-F238E27FC236}">
                <a16:creationId xmlns:a16="http://schemas.microsoft.com/office/drawing/2014/main" id="{B4F1EA95-7C60-40BD-A60A-C94EF0C1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10801350" cy="4533900"/>
          </a:xfrm>
          <a:prstGeom xmlns:a="http://schemas.openxmlformats.org/drawingml/2006/main" prst="roundRect">
            <a:avLst>
              <a:gd name="adj" fmla="val 252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ed529f60741d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architecture-slide-caption">
            <a:extLst xmlns:a="http://schemas.openxmlformats.org/drawingml/2006/main">
              <a:ext uri="{FF2B5EF4-FFF2-40B4-BE49-F238E27FC236}">
                <a16:creationId xmlns:a16="http://schemas.microsoft.com/office/drawing/2014/main" id="{2CD7A959-20E2-4AC9-AE11-97CCBF5D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63">
                <a:solidFill>
                  <a:srgbClr val="64748B"/>
                </a:solidFill>
              </a:defRPr>
            </a:pPr>
            <a:r>
              <a:rPr sz="863">
                <a:solidFill>
                  <a:srgbClr val="64748B"/>
                </a:solidFill>
              </a:rPr>
              <a:t>Diagram view: plant channels -&gt; React workflows -&gt; FastAPI/RBAC -&gt; deterministic services -&gt; AI/RAG/learning -&gt; operational data stores.</a:t>
            </a:r>
          </a:p>
        </p:txBody>
      </p:sp>
      <p:sp>
        <p:nvSpPr>
          <p:cNvPr id="9" name="architecture-slide-marker">
            <a:extLst xmlns:a="http://schemas.openxmlformats.org/drawingml/2006/main">
              <a:ext uri="{FF2B5EF4-FFF2-40B4-BE49-F238E27FC236}">
                <a16:creationId xmlns:a16="http://schemas.microsoft.com/office/drawing/2014/main" id="{02EF7AB0-A2AD-4C91-8E05-366560F4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95300"/>
            <a:ext cx="4762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9525">
            <a:solidFill>
              <a:srgbClr val="BAE6F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075985"/>
                </a:solidFill>
              </a:defRPr>
            </a:pPr>
            <a:r>
              <a:rPr sz="900" b="1">
                <a:solidFill>
                  <a:srgbClr val="075985"/>
                </a:solidFill>
              </a:rPr>
              <a:t>13</a:t>
            </a:r>
          </a:p>
        </p:txBody>
      </p:sp>
      <p:sp>
        <p:nvSpPr>
          <p:cNvPr id="11" name="architecture-full-image-clean-background">
            <a:extLst xmlns:a="http://schemas.openxmlformats.org/drawingml/2006/main">
              <a:ext uri="{FF2B5EF4-FFF2-40B4-BE49-F238E27FC236}">
                <a16:creationId xmlns:a16="http://schemas.microsoft.com/office/drawing/2014/main" id="{CABC95C2-1719-46BA-AC98-4455A38D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B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52489dcff3440f"/>
          <a:stretch xmlns:a="http://schemas.openxmlformats.org/drawingml/2006/main"/>
        </p:blipFill>
        <p:spPr>
          <a:xfrm xmlns:a="http://schemas.openxmlformats.org/drawingml/2006/main">
            <a:off x="609600" y="0"/>
            <a:ext cx="109728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764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2026-06-15T09:20:31.5800000Z</dcterms:created>
  <dcterms:modified xsi:type="dcterms:W3CDTF">2026-06-15T09:20:31.5800000Z</dcterms:modified>
</coreProperties>
</file>